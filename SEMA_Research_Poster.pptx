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7" r:id="rId2"/>
  </p:sldIdLst>
  <p:sldSz cx="37463413" cy="21067713"/>
  <p:notesSz cx="6858000" cy="9144000"/>
  <p:defaultTextStyle>
    <a:defPPr>
      <a:defRPr lang="en-US"/>
    </a:defPPr>
    <a:lvl1pPr marL="0" algn="l" defTabSz="2809389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1pPr>
    <a:lvl2pPr marL="1404694" algn="l" defTabSz="2809389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2pPr>
    <a:lvl3pPr marL="2809389" algn="l" defTabSz="2809389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3pPr>
    <a:lvl4pPr marL="4214083" algn="l" defTabSz="2809389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4pPr>
    <a:lvl5pPr marL="5618776" algn="l" defTabSz="2809389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5pPr>
    <a:lvl6pPr marL="7023470" algn="l" defTabSz="2809389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6pPr>
    <a:lvl7pPr marL="8428163" algn="l" defTabSz="2809389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7pPr>
    <a:lvl8pPr marL="9832859" algn="l" defTabSz="2809389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8pPr>
    <a:lvl9pPr marL="11237552" algn="l" defTabSz="2809389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6" userDrawn="1">
          <p15:clr>
            <a:srgbClr val="A4A3A4"/>
          </p15:clr>
        </p15:guide>
        <p15:guide id="2" pos="11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7"/>
    <p:restoredTop sz="94655"/>
  </p:normalViewPr>
  <p:slideViewPr>
    <p:cSldViewPr snapToGrid="0" snapToObjects="1">
      <p:cViewPr>
        <p:scale>
          <a:sx n="25" d="100"/>
          <a:sy n="25" d="100"/>
        </p:scale>
        <p:origin x="1842" y="882"/>
      </p:cViewPr>
      <p:guideLst>
        <p:guide orient="horz" pos="6636"/>
        <p:guide pos="11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E9724D-6106-B84D-AD73-88AB3BCE741D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A78A6-91B1-A94B-8013-D04A98434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38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96773" rtl="0" eaLnBrk="1" latinLnBrk="0" hangingPunct="1">
      <a:defRPr sz="914" kern="1200">
        <a:solidFill>
          <a:schemeClr val="tx1"/>
        </a:solidFill>
        <a:latin typeface="+mn-lt"/>
        <a:ea typeface="+mn-ea"/>
        <a:cs typeface="+mn-cs"/>
      </a:defRPr>
    </a:lvl1pPr>
    <a:lvl2pPr marL="348386" algn="l" defTabSz="696773" rtl="0" eaLnBrk="1" latinLnBrk="0" hangingPunct="1">
      <a:defRPr sz="914" kern="1200">
        <a:solidFill>
          <a:schemeClr val="tx1"/>
        </a:solidFill>
        <a:latin typeface="+mn-lt"/>
        <a:ea typeface="+mn-ea"/>
        <a:cs typeface="+mn-cs"/>
      </a:defRPr>
    </a:lvl2pPr>
    <a:lvl3pPr marL="696773" algn="l" defTabSz="696773" rtl="0" eaLnBrk="1" latinLnBrk="0" hangingPunct="1">
      <a:defRPr sz="914" kern="1200">
        <a:solidFill>
          <a:schemeClr val="tx1"/>
        </a:solidFill>
        <a:latin typeface="+mn-lt"/>
        <a:ea typeface="+mn-ea"/>
        <a:cs typeface="+mn-cs"/>
      </a:defRPr>
    </a:lvl3pPr>
    <a:lvl4pPr marL="1045159" algn="l" defTabSz="696773" rtl="0" eaLnBrk="1" latinLnBrk="0" hangingPunct="1">
      <a:defRPr sz="914" kern="1200">
        <a:solidFill>
          <a:schemeClr val="tx1"/>
        </a:solidFill>
        <a:latin typeface="+mn-lt"/>
        <a:ea typeface="+mn-ea"/>
        <a:cs typeface="+mn-cs"/>
      </a:defRPr>
    </a:lvl4pPr>
    <a:lvl5pPr marL="1393546" algn="l" defTabSz="696773" rtl="0" eaLnBrk="1" latinLnBrk="0" hangingPunct="1">
      <a:defRPr sz="914" kern="1200">
        <a:solidFill>
          <a:schemeClr val="tx1"/>
        </a:solidFill>
        <a:latin typeface="+mn-lt"/>
        <a:ea typeface="+mn-ea"/>
        <a:cs typeface="+mn-cs"/>
      </a:defRPr>
    </a:lvl5pPr>
    <a:lvl6pPr marL="1741932" algn="l" defTabSz="696773" rtl="0" eaLnBrk="1" latinLnBrk="0" hangingPunct="1">
      <a:defRPr sz="914" kern="1200">
        <a:solidFill>
          <a:schemeClr val="tx1"/>
        </a:solidFill>
        <a:latin typeface="+mn-lt"/>
        <a:ea typeface="+mn-ea"/>
        <a:cs typeface="+mn-cs"/>
      </a:defRPr>
    </a:lvl6pPr>
    <a:lvl7pPr marL="2090318" algn="l" defTabSz="696773" rtl="0" eaLnBrk="1" latinLnBrk="0" hangingPunct="1">
      <a:defRPr sz="914" kern="1200">
        <a:solidFill>
          <a:schemeClr val="tx1"/>
        </a:solidFill>
        <a:latin typeface="+mn-lt"/>
        <a:ea typeface="+mn-ea"/>
        <a:cs typeface="+mn-cs"/>
      </a:defRPr>
    </a:lvl7pPr>
    <a:lvl8pPr marL="2438705" algn="l" defTabSz="696773" rtl="0" eaLnBrk="1" latinLnBrk="0" hangingPunct="1">
      <a:defRPr sz="914" kern="1200">
        <a:solidFill>
          <a:schemeClr val="tx1"/>
        </a:solidFill>
        <a:latin typeface="+mn-lt"/>
        <a:ea typeface="+mn-ea"/>
        <a:cs typeface="+mn-cs"/>
      </a:defRPr>
    </a:lvl8pPr>
    <a:lvl9pPr marL="2787091" algn="l" defTabSz="696773" rtl="0" eaLnBrk="1" latinLnBrk="0" hangingPunct="1">
      <a:defRPr sz="9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31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earch Poster 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 descr="Vertical Divider"/>
          <p:cNvCxnSpPr>
            <a:cxnSpLocks/>
          </p:cNvCxnSpPr>
          <p:nvPr userDrawn="1"/>
        </p:nvCxnSpPr>
        <p:spPr bwMode="auto">
          <a:xfrm>
            <a:off x="9547426" y="4315110"/>
            <a:ext cx="0" cy="1419641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9" name="Straight Connector 9"/>
          <p:cNvCxnSpPr>
            <a:cxnSpLocks noChangeShapeType="1"/>
          </p:cNvCxnSpPr>
          <p:nvPr userDrawn="1"/>
        </p:nvCxnSpPr>
        <p:spPr bwMode="auto">
          <a:xfrm>
            <a:off x="9651762" y="5755052"/>
            <a:ext cx="780488" cy="585214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10" name="Straight Connector 9" descr="Vertical Divider"/>
          <p:cNvCxnSpPr>
            <a:cxnSpLocks/>
          </p:cNvCxnSpPr>
          <p:nvPr userDrawn="1"/>
        </p:nvCxnSpPr>
        <p:spPr bwMode="auto">
          <a:xfrm>
            <a:off x="18731707" y="4315110"/>
            <a:ext cx="0" cy="1419641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11" name="Straight Connector 10" descr="Vertical Divider"/>
          <p:cNvCxnSpPr>
            <a:cxnSpLocks/>
          </p:cNvCxnSpPr>
          <p:nvPr userDrawn="1"/>
        </p:nvCxnSpPr>
        <p:spPr bwMode="auto">
          <a:xfrm>
            <a:off x="27915989" y="4315110"/>
            <a:ext cx="0" cy="1419641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sp>
        <p:nvSpPr>
          <p:cNvPr id="12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780489" y="4390170"/>
            <a:ext cx="8363143" cy="8370790"/>
          </a:xfrm>
          <a:prstGeom prst="rect">
            <a:avLst/>
          </a:prstGeom>
        </p:spPr>
        <p:txBody>
          <a:bodyPr/>
          <a:lstStyle>
            <a:lvl1pPr marL="0" indent="-292608">
              <a:lnSpc>
                <a:spcPts val="2944"/>
              </a:lnSpc>
              <a:spcBef>
                <a:spcPts val="0"/>
              </a:spcBef>
              <a:buFontTx/>
              <a:buNone/>
              <a:defRPr sz="1792" baseline="0">
                <a:solidFill>
                  <a:schemeClr val="tx1"/>
                </a:solidFill>
                <a:latin typeface="Arial" charset="0"/>
              </a:defRPr>
            </a:lvl1pPr>
            <a:lvl2pPr marL="585216" indent="-292608">
              <a:lnSpc>
                <a:spcPts val="2944"/>
              </a:lnSpc>
              <a:spcBef>
                <a:spcPts val="0"/>
              </a:spcBef>
              <a:buClr>
                <a:schemeClr val="tx2"/>
              </a:buClr>
              <a:buSzPct val="100000"/>
              <a:defRPr sz="1792" baseline="0">
                <a:solidFill>
                  <a:schemeClr val="tx1"/>
                </a:solidFill>
                <a:latin typeface="Arial" charset="0"/>
              </a:defRPr>
            </a:lvl2pPr>
            <a:lvl3pPr marL="87782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3pPr>
            <a:lvl4pPr marL="1053389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4pPr>
            <a:lvl5pPr marL="122895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tabLst/>
              <a:defRPr sz="1792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3" name="Picture Placeholder 2" descr="Photo alt tag goes here"/>
          <p:cNvSpPr>
            <a:spLocks noGrp="1"/>
          </p:cNvSpPr>
          <p:nvPr>
            <p:ph type="pic" sz="quarter" idx="16"/>
          </p:nvPr>
        </p:nvSpPr>
        <p:spPr>
          <a:xfrm>
            <a:off x="780489" y="13383630"/>
            <a:ext cx="8363143" cy="502629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pPr mar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2" descr="Photo alt tag goes here"/>
          <p:cNvSpPr>
            <a:spLocks noGrp="1"/>
          </p:cNvSpPr>
          <p:nvPr>
            <p:ph type="pic" sz="quarter" idx="17"/>
          </p:nvPr>
        </p:nvSpPr>
        <p:spPr>
          <a:xfrm>
            <a:off x="28333332" y="10143534"/>
            <a:ext cx="8363143" cy="4769496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8" hasCustomPrompt="1"/>
          </p:nvPr>
        </p:nvSpPr>
        <p:spPr>
          <a:xfrm>
            <a:off x="9964769" y="4390169"/>
            <a:ext cx="8363143" cy="139994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944"/>
              </a:lnSpc>
              <a:spcBef>
                <a:spcPts val="0"/>
              </a:spcBef>
              <a:buFontTx/>
              <a:buNone/>
              <a:defRPr sz="1792" baseline="0">
                <a:solidFill>
                  <a:schemeClr val="tx1"/>
                </a:solidFill>
                <a:latin typeface="Arial" charset="0"/>
              </a:defRPr>
            </a:lvl1pPr>
            <a:lvl2pPr marL="585216" indent="-292608">
              <a:lnSpc>
                <a:spcPts val="2944"/>
              </a:lnSpc>
              <a:spcBef>
                <a:spcPts val="0"/>
              </a:spcBef>
              <a:buClr>
                <a:schemeClr val="tx2"/>
              </a:buClr>
              <a:defRPr sz="1792" baseline="0">
                <a:solidFill>
                  <a:schemeClr val="tx1"/>
                </a:solidFill>
                <a:latin typeface="Arial" charset="0"/>
              </a:defRPr>
            </a:lvl2pPr>
            <a:lvl3pPr marL="87782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3pPr>
            <a:lvl4pPr marL="1024128" indent="-146304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4pPr>
            <a:lvl5pPr marL="1463040" indent="-292608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quarter" idx="19" hasCustomPrompt="1"/>
          </p:nvPr>
        </p:nvSpPr>
        <p:spPr>
          <a:xfrm>
            <a:off x="19135504" y="4392385"/>
            <a:ext cx="8363143" cy="4464476"/>
          </a:xfrm>
          <a:prstGeom prst="rect">
            <a:avLst/>
          </a:prstGeom>
        </p:spPr>
        <p:txBody>
          <a:bodyPr/>
          <a:lstStyle>
            <a:lvl1pPr>
              <a:lnSpc>
                <a:spcPts val="2944"/>
              </a:lnSpc>
              <a:spcBef>
                <a:spcPts val="0"/>
              </a:spcBef>
              <a:defRPr sz="1792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585216" indent="-292608">
              <a:lnSpc>
                <a:spcPts val="2944"/>
              </a:lnSpc>
              <a:spcBef>
                <a:spcPts val="0"/>
              </a:spcBef>
              <a:buClr>
                <a:schemeClr val="accent1"/>
              </a:buClr>
              <a:defRPr sz="1792" baseline="0">
                <a:solidFill>
                  <a:schemeClr val="tx1"/>
                </a:solidFill>
                <a:latin typeface="Arial" charset="0"/>
              </a:defRPr>
            </a:lvl2pPr>
            <a:lvl3pPr marL="87782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3pPr>
            <a:lvl4pPr marL="1053389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4pPr>
            <a:lvl5pPr marL="122895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20" hasCustomPrompt="1"/>
          </p:nvPr>
        </p:nvSpPr>
        <p:spPr>
          <a:xfrm>
            <a:off x="28333332" y="4390171"/>
            <a:ext cx="8363143" cy="5241509"/>
          </a:xfrm>
          <a:prstGeom prst="rect">
            <a:avLst/>
          </a:prstGeom>
        </p:spPr>
        <p:txBody>
          <a:bodyPr/>
          <a:lstStyle>
            <a:lvl1pPr>
              <a:lnSpc>
                <a:spcPts val="2944"/>
              </a:lnSpc>
              <a:spcBef>
                <a:spcPts val="0"/>
              </a:spcBef>
              <a:defRPr sz="1792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585216" indent="-292608">
              <a:lnSpc>
                <a:spcPts val="2944"/>
              </a:lnSpc>
              <a:spcBef>
                <a:spcPts val="0"/>
              </a:spcBef>
              <a:buClr>
                <a:schemeClr val="tx2"/>
              </a:buClr>
              <a:defRPr sz="1792" baseline="0">
                <a:solidFill>
                  <a:schemeClr val="tx1"/>
                </a:solidFill>
                <a:latin typeface="Arial" charset="0"/>
              </a:defRPr>
            </a:lvl2pPr>
            <a:lvl3pPr marL="87782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3pPr>
            <a:lvl4pPr marL="1053389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4pPr>
            <a:lvl5pPr marL="122895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8" name="Content Placeholder 9"/>
          <p:cNvSpPr>
            <a:spLocks noGrp="1"/>
          </p:cNvSpPr>
          <p:nvPr>
            <p:ph sz="quarter" idx="21" hasCustomPrompt="1"/>
          </p:nvPr>
        </p:nvSpPr>
        <p:spPr>
          <a:xfrm>
            <a:off x="28333332" y="15382240"/>
            <a:ext cx="8363143" cy="3048000"/>
          </a:xfrm>
          <a:prstGeom prst="rect">
            <a:avLst/>
          </a:prstGeom>
        </p:spPr>
        <p:txBody>
          <a:bodyPr/>
          <a:lstStyle>
            <a:lvl1pPr>
              <a:lnSpc>
                <a:spcPts val="2944"/>
              </a:lnSpc>
              <a:spcBef>
                <a:spcPts val="0"/>
              </a:spcBef>
              <a:defRPr sz="1792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585216" indent="-292608">
              <a:lnSpc>
                <a:spcPts val="2944"/>
              </a:lnSpc>
              <a:spcBef>
                <a:spcPts val="0"/>
              </a:spcBef>
              <a:buClr>
                <a:schemeClr val="tx2"/>
              </a:buClr>
              <a:defRPr sz="1792" baseline="0">
                <a:solidFill>
                  <a:schemeClr val="tx1"/>
                </a:solidFill>
                <a:latin typeface="Arial" charset="0"/>
              </a:defRPr>
            </a:lvl2pPr>
            <a:lvl3pPr marL="87782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3pPr>
            <a:lvl4pPr marL="1053389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4pPr>
            <a:lvl5pPr marL="122895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9" name="Chart Placeholder 23"/>
          <p:cNvSpPr>
            <a:spLocks noGrp="1"/>
          </p:cNvSpPr>
          <p:nvPr>
            <p:ph type="chart" sz="quarter" idx="22" hasCustomPrompt="1"/>
          </p:nvPr>
        </p:nvSpPr>
        <p:spPr>
          <a:xfrm>
            <a:off x="19247965" y="9401850"/>
            <a:ext cx="8250681" cy="44429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585216" indent="-292608">
              <a:lnSpc>
                <a:spcPts val="2944"/>
              </a:lnSpc>
              <a:spcBef>
                <a:spcPts val="0"/>
              </a:spcBef>
              <a:buClr>
                <a:schemeClr val="tx2"/>
              </a:buClr>
              <a:defRPr sz="1792">
                <a:solidFill>
                  <a:schemeClr val="tx1"/>
                </a:solidFill>
              </a:defRPr>
            </a:lvl2pPr>
            <a:lvl3pPr marL="87782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>
                <a:solidFill>
                  <a:schemeClr val="tx1"/>
                </a:solidFill>
              </a:defRPr>
            </a:lvl3pPr>
            <a:lvl4pPr marL="1053389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>
                <a:solidFill>
                  <a:schemeClr val="tx1"/>
                </a:solidFill>
              </a:defRPr>
            </a:lvl4pPr>
            <a:lvl5pPr marL="122895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Fourth level</a:t>
            </a:r>
          </a:p>
          <a:p>
            <a:endParaRPr lang="en-US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23" hasCustomPrompt="1"/>
          </p:nvPr>
        </p:nvSpPr>
        <p:spPr>
          <a:xfrm>
            <a:off x="19247967" y="14437012"/>
            <a:ext cx="8204354" cy="3993228"/>
          </a:xfrm>
          <a:prstGeom prst="rect">
            <a:avLst/>
          </a:prstGeom>
        </p:spPr>
        <p:txBody>
          <a:bodyPr/>
          <a:lstStyle>
            <a:lvl1pPr>
              <a:lnSpc>
                <a:spcPts val="2944"/>
              </a:lnSpc>
              <a:spcBef>
                <a:spcPts val="0"/>
              </a:spcBef>
              <a:defRPr sz="1792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585216" indent="-292608">
              <a:lnSpc>
                <a:spcPts val="2944"/>
              </a:lnSpc>
              <a:spcBef>
                <a:spcPts val="0"/>
              </a:spcBef>
              <a:buClr>
                <a:schemeClr val="tx2"/>
              </a:buClr>
              <a:defRPr sz="1792" baseline="0">
                <a:solidFill>
                  <a:schemeClr val="tx1"/>
                </a:solidFill>
                <a:latin typeface="Arial" charset="0"/>
              </a:defRPr>
            </a:lvl2pPr>
            <a:lvl3pPr marL="87782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3pPr>
            <a:lvl4pPr marL="1053389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4pPr>
            <a:lvl5pPr marL="1228954" indent="-175565">
              <a:lnSpc>
                <a:spcPts val="2944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792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587378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6" userDrawn="1">
          <p15:clr>
            <a:srgbClr val="FBAE40"/>
          </p15:clr>
        </p15:guide>
        <p15:guide id="2" pos="1180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17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6" descr="alt=&quot;&quot;">
            <a:extLst>
              <a:ext uri="{FF2B5EF4-FFF2-40B4-BE49-F238E27FC236}">
                <a16:creationId xmlns:a16="http://schemas.microsoft.com/office/drawing/2014/main" id="{FBA0B81E-BB45-FF42-9615-69A6AFA872C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" y="0"/>
            <a:ext cx="37463413" cy="3512576"/>
          </a:xfrm>
          <a:prstGeom prst="rect">
            <a:avLst/>
          </a:prstGeom>
          <a:solidFill>
            <a:srgbClr val="005BBB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11" name="Rectangle 10" descr="alt=&quot;&quot;">
            <a:extLst>
              <a:ext uri="{FF2B5EF4-FFF2-40B4-BE49-F238E27FC236}">
                <a16:creationId xmlns:a16="http://schemas.microsoft.com/office/drawing/2014/main" id="{BA82B91E-F101-F84D-88BC-1E42B41887CB}"/>
              </a:ext>
            </a:extLst>
          </p:cNvPr>
          <p:cNvSpPr/>
          <p:nvPr userDrawn="1"/>
        </p:nvSpPr>
        <p:spPr>
          <a:xfrm>
            <a:off x="-1" y="3478193"/>
            <a:ext cx="37463413" cy="180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UB Crest">
            <a:extLst>
              <a:ext uri="{FF2B5EF4-FFF2-40B4-BE49-F238E27FC236}">
                <a16:creationId xmlns:a16="http://schemas.microsoft.com/office/drawing/2014/main" id="{677B3968-4AEB-3343-A962-DC5A8486DD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5" b="40121"/>
          <a:stretch/>
        </p:blipFill>
        <p:spPr>
          <a:xfrm>
            <a:off x="29492842" y="-12338"/>
            <a:ext cx="6234906" cy="3508646"/>
          </a:xfrm>
          <a:prstGeom prst="rect">
            <a:avLst/>
          </a:prstGeom>
        </p:spPr>
      </p:pic>
      <p:sp>
        <p:nvSpPr>
          <p:cNvPr id="13" name="Rectangle 36" descr="alt=&quot;&quot;">
            <a:extLst>
              <a:ext uri="{FF2B5EF4-FFF2-40B4-BE49-F238E27FC236}">
                <a16:creationId xmlns:a16="http://schemas.microsoft.com/office/drawing/2014/main" id="{F6ACD457-75A0-AE48-90EF-30A97AB57E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9082085"/>
            <a:ext cx="37463413" cy="1985628"/>
          </a:xfrm>
          <a:prstGeom prst="rect">
            <a:avLst/>
          </a:prstGeom>
          <a:solidFill>
            <a:srgbClr val="005BBB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pic>
        <p:nvPicPr>
          <p:cNvPr id="14" name="Picture 13" descr="University at Buffalo, The State University of New York">
            <a:extLst>
              <a:ext uri="{FF2B5EF4-FFF2-40B4-BE49-F238E27FC236}">
                <a16:creationId xmlns:a16="http://schemas.microsoft.com/office/drawing/2014/main" id="{5436096C-236E-AE48-BB9C-CBD4C04DDCE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58" y="19690451"/>
            <a:ext cx="10725451" cy="79543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C82CA5-ED27-7E42-B0D0-6858206779A3}"/>
              </a:ext>
            </a:extLst>
          </p:cNvPr>
          <p:cNvCxnSpPr/>
          <p:nvPr userDrawn="1"/>
        </p:nvCxnSpPr>
        <p:spPr>
          <a:xfrm>
            <a:off x="27913271" y="19527805"/>
            <a:ext cx="0" cy="1063256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49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585216" rtl="0" eaLnBrk="1" latinLnBrk="0" hangingPunct="1">
        <a:lnSpc>
          <a:spcPct val="90000"/>
        </a:lnSpc>
        <a:spcBef>
          <a:spcPct val="0"/>
        </a:spcBef>
        <a:buNone/>
        <a:defRPr sz="5632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585216" rtl="0" eaLnBrk="1" latinLnBrk="0" hangingPunct="1">
        <a:lnSpc>
          <a:spcPct val="90000"/>
        </a:lnSpc>
        <a:spcBef>
          <a:spcPts val="640"/>
        </a:spcBef>
        <a:buFont typeface="Arial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146304" algn="l" defTabSz="585216" rtl="0" eaLnBrk="1" latinLnBrk="0" hangingPunct="1">
        <a:lnSpc>
          <a:spcPct val="90000"/>
        </a:lnSpc>
        <a:spcBef>
          <a:spcPts val="320"/>
        </a:spcBef>
        <a:buFont typeface="Arial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46304" algn="l" defTabSz="585216" rtl="0" eaLnBrk="1" latinLnBrk="0" hangingPunct="1">
        <a:lnSpc>
          <a:spcPct val="90000"/>
        </a:lnSpc>
        <a:spcBef>
          <a:spcPts val="320"/>
        </a:spcBef>
        <a:buFont typeface="Arial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46304" algn="l" defTabSz="585216" rtl="0" eaLnBrk="1" latinLnBrk="0" hangingPunct="1">
        <a:lnSpc>
          <a:spcPct val="90000"/>
        </a:lnSpc>
        <a:spcBef>
          <a:spcPts val="320"/>
        </a:spcBef>
        <a:buFont typeface="Arial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4pPr>
      <a:lvl5pPr marL="1316736" indent="-146304" algn="l" defTabSz="585216" rtl="0" eaLnBrk="1" latinLnBrk="0" hangingPunct="1">
        <a:lnSpc>
          <a:spcPct val="90000"/>
        </a:lnSpc>
        <a:spcBef>
          <a:spcPts val="320"/>
        </a:spcBef>
        <a:buFont typeface="Arial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5pPr>
      <a:lvl6pPr marL="1609344" indent="-146304" algn="l" defTabSz="585216" rtl="0" eaLnBrk="1" latinLnBrk="0" hangingPunct="1">
        <a:lnSpc>
          <a:spcPct val="90000"/>
        </a:lnSpc>
        <a:spcBef>
          <a:spcPts val="320"/>
        </a:spcBef>
        <a:buFont typeface="Arial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46304" algn="l" defTabSz="585216" rtl="0" eaLnBrk="1" latinLnBrk="0" hangingPunct="1">
        <a:lnSpc>
          <a:spcPct val="90000"/>
        </a:lnSpc>
        <a:spcBef>
          <a:spcPts val="320"/>
        </a:spcBef>
        <a:buFont typeface="Arial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46304" algn="l" defTabSz="585216" rtl="0" eaLnBrk="1" latinLnBrk="0" hangingPunct="1">
        <a:lnSpc>
          <a:spcPct val="90000"/>
        </a:lnSpc>
        <a:spcBef>
          <a:spcPts val="320"/>
        </a:spcBef>
        <a:buFont typeface="Arial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8pPr>
      <a:lvl9pPr marL="2487168" indent="-146304" algn="l" defTabSz="585216" rtl="0" eaLnBrk="1" latinLnBrk="0" hangingPunct="1">
        <a:lnSpc>
          <a:spcPct val="90000"/>
        </a:lnSpc>
        <a:spcBef>
          <a:spcPts val="320"/>
        </a:spcBef>
        <a:buFont typeface="Arial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1pPr>
      <a:lvl2pPr marL="292608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85216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3pPr>
      <a:lvl4pPr marL="877824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4pPr>
      <a:lvl5pPr marL="1170432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5pPr>
      <a:lvl6pPr marL="1463040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6pPr>
      <a:lvl7pPr marL="1755648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7pPr>
      <a:lvl8pPr marL="2048256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8pPr>
      <a:lvl9pPr marL="2340864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4E56FE-4BAB-4DC8-84A4-F4953B02D3F2}"/>
              </a:ext>
            </a:extLst>
          </p:cNvPr>
          <p:cNvSpPr/>
          <p:nvPr/>
        </p:nvSpPr>
        <p:spPr>
          <a:xfrm>
            <a:off x="0" y="19107150"/>
            <a:ext cx="37463412" cy="1937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Sema</a:t>
            </a:r>
            <a:endParaRPr lang="en-US" sz="2400" dirty="0"/>
          </a:p>
          <a:p>
            <a:pPr algn="ctr"/>
            <a:r>
              <a:rPr lang="en-US" sz="2400" dirty="0"/>
              <a:t>Bridging Voices, Connecting Communities</a:t>
            </a:r>
          </a:p>
          <a:p>
            <a:pPr algn="ctr"/>
            <a:r>
              <a:rPr lang="en-US" sz="2400" dirty="0"/>
              <a:t>Powered by Guild Code</a:t>
            </a:r>
          </a:p>
        </p:txBody>
      </p:sp>
      <p:sp>
        <p:nvSpPr>
          <p:cNvPr id="7" name="Introduction Textbox"/>
          <p:cNvSpPr txBox="1">
            <a:spLocks noChangeArrowheads="1"/>
          </p:cNvSpPr>
          <p:nvPr/>
        </p:nvSpPr>
        <p:spPr bwMode="auto">
          <a:xfrm>
            <a:off x="720904" y="4156063"/>
            <a:ext cx="13188833" cy="6337632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2944"/>
              </a:lnSpc>
              <a:spcAft>
                <a:spcPts val="768"/>
              </a:spcAft>
            </a:pPr>
            <a:r>
              <a:rPr lang="en-US" sz="3070" b="1" dirty="0">
                <a:solidFill>
                  <a:srgbClr val="005BBB"/>
                </a:solidFill>
                <a:latin typeface="+mj-lt"/>
              </a:rPr>
              <a:t>Introduction</a:t>
            </a:r>
          </a:p>
          <a:p>
            <a:r>
              <a:rPr lang="en-US" sz="2500" b="1" dirty="0">
                <a:solidFill>
                  <a:schemeClr val="tx1">
                    <a:lumMod val="75000"/>
                  </a:schemeClr>
                </a:solidFill>
              </a:rPr>
              <a:t>Background:</a:t>
            </a:r>
            <a:br>
              <a:rPr lang="en-US" sz="2500" dirty="0"/>
            </a:br>
            <a:r>
              <a:rPr lang="en-US" sz="2500" dirty="0"/>
              <a:t>Swahili, a widely spoken language in East Africa, has limited resources for advanced speech processing. This gap hinders the development of automated tools for speech-to-text conversion, sentiment analysis, and summarization.</a:t>
            </a:r>
          </a:p>
          <a:p>
            <a:r>
              <a:rPr lang="en-US" sz="2500" b="1" dirty="0"/>
              <a:t>Problem Statement:</a:t>
            </a:r>
            <a:br>
              <a:rPr lang="en-US" sz="2500" dirty="0"/>
            </a:br>
            <a:r>
              <a:rPr lang="en-US" sz="2500" dirty="0"/>
              <a:t>The lack of real-time Swahili speech analysis tools makes it difficult to extract meaningful insights from audio data, affecting fields such as education, business intelligence, and media monitoring.</a:t>
            </a:r>
          </a:p>
          <a:p>
            <a:r>
              <a:rPr lang="en-US" sz="2500" b="1" dirty="0"/>
              <a:t>Motivation:</a:t>
            </a:r>
            <a:br>
              <a:rPr lang="en-US" sz="2500" dirty="0"/>
            </a:br>
            <a:r>
              <a:rPr lang="en-US" sz="2500" dirty="0"/>
              <a:t>There is a growing need for analyzing Swahili audio data for customer feedback analysis, media monitoring, and educational support. This research aims to bridge the gap by developing a system capable of real-time speech processing.</a:t>
            </a:r>
          </a:p>
          <a:p>
            <a:r>
              <a:rPr lang="en-US" sz="2500" b="1" dirty="0"/>
              <a:t>Objectives:</a:t>
            </a:r>
            <a:endParaRPr lang="en-US" sz="2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Convert spoken Swahili into text using speech-to-text (STT) technology.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Analyze sentiment from transcribed speech.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Summarize transcriptions to extract key insights.</a:t>
            </a:r>
          </a:p>
        </p:txBody>
      </p:sp>
      <p:cxnSp>
        <p:nvCxnSpPr>
          <p:cNvPr id="31" name="Horizontal Section Divider" descr="Horizontal Divider"/>
          <p:cNvCxnSpPr>
            <a:cxnSpLocks/>
          </p:cNvCxnSpPr>
          <p:nvPr/>
        </p:nvCxnSpPr>
        <p:spPr bwMode="auto">
          <a:xfrm>
            <a:off x="812667" y="10565829"/>
            <a:ext cx="7660728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Data Analysis Textbox"/>
          <p:cNvSpPr txBox="1"/>
          <p:nvPr/>
        </p:nvSpPr>
        <p:spPr>
          <a:xfrm>
            <a:off x="14487381" y="4000173"/>
            <a:ext cx="11148517" cy="1336263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2944"/>
              </a:lnSpc>
              <a:spcAft>
                <a:spcPts val="768"/>
              </a:spcAft>
              <a:defRPr/>
            </a:pPr>
            <a:r>
              <a:rPr lang="en-US" sz="3070" b="1" dirty="0">
                <a:solidFill>
                  <a:schemeClr val="tx2"/>
                </a:solidFill>
                <a:latin typeface="+mj-lt"/>
              </a:rPr>
              <a:t>Data Analysis </a:t>
            </a:r>
            <a:endParaRPr lang="en-US" sz="2500" b="1" dirty="0"/>
          </a:p>
          <a:p>
            <a:br>
              <a:rPr lang="en-US" sz="2500" dirty="0"/>
            </a:br>
            <a:endParaRPr lang="en-US" sz="2500" dirty="0"/>
          </a:p>
        </p:txBody>
      </p:sp>
      <p:cxnSp>
        <p:nvCxnSpPr>
          <p:cNvPr id="34" name="Horizontal Section Divider" descr="Horizontal Divider"/>
          <p:cNvCxnSpPr>
            <a:cxnSpLocks/>
          </p:cNvCxnSpPr>
          <p:nvPr/>
        </p:nvCxnSpPr>
        <p:spPr bwMode="auto">
          <a:xfrm>
            <a:off x="26279812" y="8935742"/>
            <a:ext cx="8298180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sults Textbox"/>
          <p:cNvSpPr txBox="1"/>
          <p:nvPr/>
        </p:nvSpPr>
        <p:spPr>
          <a:xfrm>
            <a:off x="26283440" y="3983806"/>
            <a:ext cx="8311892" cy="4414029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2944"/>
              </a:lnSpc>
              <a:spcAft>
                <a:spcPts val="768"/>
              </a:spcAft>
              <a:defRPr/>
            </a:pPr>
            <a:r>
              <a:rPr lang="en-US" sz="3072" b="1" dirty="0">
                <a:solidFill>
                  <a:srgbClr val="005BBB"/>
                </a:solidFill>
                <a:latin typeface="+mj-lt"/>
              </a:rPr>
              <a:t>Results</a:t>
            </a:r>
          </a:p>
          <a:p>
            <a:r>
              <a:rPr lang="en-US" sz="2500" b="1" dirty="0">
                <a:latin typeface="Arial Narrow" panose="020B0606020202030204" pitchFamily="34" charset="0"/>
              </a:rPr>
              <a:t>Findings:</a:t>
            </a:r>
            <a:endParaRPr lang="en-US" sz="25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Arial Narrow" panose="020B0606020202030204" pitchFamily="34" charset="0"/>
              </a:rPr>
              <a:t>The system successfully transcribed Swahili speech with high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Arial Narrow" panose="020B0606020202030204" pitchFamily="34" charset="0"/>
              </a:rPr>
              <a:t>Sentiment classification identified emotions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Arial Narrow" panose="020B0606020202030204" pitchFamily="34" charset="0"/>
              </a:rPr>
              <a:t>Summarized text retained key information concisely.</a:t>
            </a:r>
            <a:br>
              <a:rPr lang="en-US" sz="2500" dirty="0">
                <a:latin typeface="Arial Narrow" panose="020B0606020202030204" pitchFamily="34" charset="0"/>
              </a:rPr>
            </a:br>
            <a:endParaRPr lang="en-US" sz="2500" dirty="0">
              <a:latin typeface="Arial Narrow" panose="020B0606020202030204" pitchFamily="34" charset="0"/>
            </a:endParaRPr>
          </a:p>
          <a:p>
            <a:r>
              <a:rPr lang="en-US" sz="2500" b="1" dirty="0">
                <a:latin typeface="Arial Narrow" panose="020B0606020202030204" pitchFamily="34" charset="0"/>
              </a:rPr>
              <a:t>Qualitative Analysis:</a:t>
            </a:r>
            <a:endParaRPr lang="en-US" sz="25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Arial Narrow" panose="020B0606020202030204" pitchFamily="34" charset="0"/>
              </a:rPr>
              <a:t>Users found the system efficient for real-time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Arial Narrow" panose="020B0606020202030204" pitchFamily="34" charset="0"/>
              </a:rPr>
              <a:t>Generated summaries improved readability and accessibility.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Arial Narrow" panose="020B0606020202030204" pitchFamily="34" charset="0"/>
              </a:rPr>
              <a:t>Sentiment classification aligned well with expected emotional tones.</a:t>
            </a:r>
          </a:p>
        </p:txBody>
      </p:sp>
      <p:sp>
        <p:nvSpPr>
          <p:cNvPr id="40" name="Conclusion Analysis Textbox"/>
          <p:cNvSpPr txBox="1"/>
          <p:nvPr/>
        </p:nvSpPr>
        <p:spPr>
          <a:xfrm>
            <a:off x="26283440" y="9578522"/>
            <a:ext cx="7688659" cy="4798750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2944"/>
              </a:lnSpc>
              <a:spcAft>
                <a:spcPts val="768"/>
              </a:spcAft>
              <a:defRPr/>
            </a:pPr>
            <a:r>
              <a:rPr lang="en-US" sz="3072" b="1" dirty="0">
                <a:solidFill>
                  <a:srgbClr val="005BBB"/>
                </a:solidFill>
                <a:latin typeface="+mj-lt"/>
              </a:rPr>
              <a:t>Conclusion</a:t>
            </a:r>
          </a:p>
          <a:p>
            <a:r>
              <a:rPr lang="en-US" sz="2500" dirty="0"/>
              <a:t>This research presents a pioneering approach to real-time Swahili speech processing, demonstrating the potential of AI in underrepresented languages.</a:t>
            </a:r>
          </a:p>
          <a:p>
            <a:endParaRPr lang="en-US" sz="2500" dirty="0"/>
          </a:p>
          <a:p>
            <a:r>
              <a:rPr lang="en-US" sz="2500" dirty="0"/>
              <a:t>Practical Applications: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Enables multilingual AI solutions for speech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Improves accessibility in technology for Swahili speakers.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Supports further advancements in speech-driven analytics.</a:t>
            </a:r>
          </a:p>
        </p:txBody>
      </p:sp>
      <p:cxnSp>
        <p:nvCxnSpPr>
          <p:cNvPr id="38" name="Horizontal Section Divider" descr="Horizontal Divider"/>
          <p:cNvCxnSpPr>
            <a:cxnSpLocks/>
          </p:cNvCxnSpPr>
          <p:nvPr/>
        </p:nvCxnSpPr>
        <p:spPr bwMode="auto">
          <a:xfrm>
            <a:off x="26283440" y="15043570"/>
            <a:ext cx="7982959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ferences Textbox"/>
          <p:cNvSpPr txBox="1"/>
          <p:nvPr/>
        </p:nvSpPr>
        <p:spPr>
          <a:xfrm>
            <a:off x="26283440" y="15764903"/>
            <a:ext cx="8294552" cy="2811026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2432"/>
              </a:lnSpc>
              <a:spcAft>
                <a:spcPts val="768"/>
              </a:spcAft>
              <a:buClr>
                <a:schemeClr val="tx2"/>
              </a:buClr>
              <a:defRPr/>
            </a:pPr>
            <a:r>
              <a:rPr lang="en-US" sz="3072" b="1" dirty="0">
                <a:solidFill>
                  <a:srgbClr val="005BBB"/>
                </a:solidFill>
                <a:latin typeface="+mj-lt"/>
              </a:rPr>
              <a:t>References</a:t>
            </a:r>
            <a:endParaRPr lang="en-US" sz="1536" dirty="0">
              <a:latin typeface="Arial" charset="0"/>
              <a:ea typeface="Arial" charset="0"/>
              <a:cs typeface="Arial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Arial Narrow" panose="020B0606020202030204" pitchFamily="34" charset="0"/>
              </a:rPr>
              <a:t> Mozilla Foundation. Common Voice Dataset 11.0. [Online Resource]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Arial Narrow" panose="020B0606020202030204" pitchFamily="34" charset="0"/>
              </a:rPr>
              <a:t> OpenAI. Whisper Model for Automatic Speech Recognition.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Arial Narrow" panose="020B0606020202030204" pitchFamily="34" charset="0"/>
              </a:rPr>
              <a:t> Manning, C. D., et al. Introduction to Information Retrieval. Cambridge          University Press.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Arial Narrow" panose="020B0606020202030204" pitchFamily="34" charset="0"/>
              </a:rPr>
              <a:t> Lin, C. Y. ROUGE: A Package for Automatic Evaluation of Summaries. ACL, 2004</a:t>
            </a:r>
            <a:r>
              <a:rPr lang="en-US" sz="2200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73F70-4109-4D1F-B3A4-DBEBCC0D6562}"/>
              </a:ext>
            </a:extLst>
          </p:cNvPr>
          <p:cNvSpPr/>
          <p:nvPr/>
        </p:nvSpPr>
        <p:spPr>
          <a:xfrm>
            <a:off x="-1" y="22822"/>
            <a:ext cx="37463413" cy="34766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  <a:defRPr/>
            </a:pPr>
            <a:endParaRPr lang="en-US" altLang="en-US" sz="2050" dirty="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92" name="Poster Title">
            <a:extLst>
              <a:ext uri="{FF2B5EF4-FFF2-40B4-BE49-F238E27FC236}">
                <a16:creationId xmlns:a16="http://schemas.microsoft.com/office/drawing/2014/main" id="{D4AB48D7-DFC9-4B9B-AE5F-81A359F8C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31" y="221394"/>
            <a:ext cx="29315539" cy="2654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8396" tIns="29193" rIns="58396" bIns="29193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spcAft>
                <a:spcPts val="800"/>
              </a:spcAft>
              <a:defRPr/>
            </a:pPr>
            <a:r>
              <a:rPr lang="en-US" altLang="en-US" sz="6000" b="1" dirty="0">
                <a:solidFill>
                  <a:schemeClr val="bg1"/>
                </a:solidFill>
                <a:latin typeface="+mn-lt"/>
                <a:ea typeface="Arial" charset="0"/>
              </a:rPr>
              <a:t>Real-Time Swahili Speech Analysis System</a:t>
            </a:r>
          </a:p>
          <a:p>
            <a:pPr>
              <a:spcAft>
                <a:spcPts val="2400"/>
              </a:spcAft>
              <a:defRPr/>
            </a:pPr>
            <a:r>
              <a:rPr lang="en-US" altLang="en-US" sz="3600" b="1" dirty="0">
                <a:solidFill>
                  <a:srgbClr val="FFFFFF"/>
                </a:solidFill>
                <a:latin typeface="+mn-lt"/>
                <a:ea typeface="Arial" charset="0"/>
              </a:rPr>
              <a:t>Bridging Communication Gap in Africa</a:t>
            </a:r>
          </a:p>
          <a:p>
            <a:pPr>
              <a:spcBef>
                <a:spcPts val="1152"/>
              </a:spcBef>
              <a:defRPr/>
            </a:pPr>
            <a:r>
              <a:rPr lang="en-US" altLang="en-US" sz="3600" b="1" dirty="0">
                <a:solidFill>
                  <a:schemeClr val="bg1"/>
                </a:solidFill>
                <a:latin typeface="+mn-lt"/>
              </a:rPr>
              <a:t>Kevin Obote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F2E266C-78A4-1D89-6D71-1AF01B301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903" y="10465486"/>
            <a:ext cx="13188834" cy="859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70" b="1" dirty="0">
                <a:solidFill>
                  <a:srgbClr val="0070C0"/>
                </a:solidFill>
                <a:latin typeface="+mj-lt"/>
                <a:cs typeface="Arial" panose="020B0604020202020204" pitchFamily="34" charset="0"/>
              </a:rPr>
              <a:t>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500" b="1" dirty="0">
                <a:latin typeface="Arial Narrow" panose="020B0606020202030204" pitchFamily="34" charset="0"/>
              </a:rPr>
              <a:t>Data Source:</a:t>
            </a:r>
            <a:br>
              <a:rPr lang="en-US" sz="2500" dirty="0">
                <a:latin typeface="Arial Narrow" panose="020B0606020202030204" pitchFamily="34" charset="0"/>
              </a:rPr>
            </a:br>
            <a:r>
              <a:rPr lang="en-US" sz="2500" dirty="0">
                <a:latin typeface="Arial Narrow" panose="020B0606020202030204" pitchFamily="34" charset="0"/>
              </a:rPr>
              <a:t>The Mozilla Common Voice Swahili dataset (Version 11.0) was used, containing diverse speech samples from native Swahili speakers.</a:t>
            </a:r>
          </a:p>
          <a:p>
            <a:endParaRPr lang="en-US" sz="2500" dirty="0">
              <a:latin typeface="Arial Narrow" panose="020B0606020202030204" pitchFamily="34" charset="0"/>
            </a:endParaRPr>
          </a:p>
          <a:p>
            <a:r>
              <a:rPr lang="en-US" sz="2500" b="1" dirty="0">
                <a:latin typeface="Arial Narrow" panose="020B0606020202030204" pitchFamily="34" charset="0"/>
              </a:rPr>
              <a:t>Data Collection &amp; Preprocessing:</a:t>
            </a:r>
            <a:endParaRPr lang="en-US" sz="25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Arial Narrow" panose="020B0606020202030204" pitchFamily="34" charset="0"/>
              </a:rPr>
              <a:t>Noise reduction and silence trimming Feature extraction using Mel-Frequency Cepstral Coefficients (MFCCs) and spectral centroid. Text normalization, including punctuation removal and </a:t>
            </a:r>
            <a:r>
              <a:rPr lang="en-US" sz="2500" dirty="0" err="1">
                <a:latin typeface="Arial Narrow" panose="020B0606020202030204" pitchFamily="34" charset="0"/>
              </a:rPr>
              <a:t>stopword</a:t>
            </a:r>
            <a:r>
              <a:rPr lang="en-US" sz="2500" dirty="0">
                <a:latin typeface="Arial Narrow" panose="020B0606020202030204" pitchFamily="34" charset="0"/>
              </a:rPr>
              <a:t> elimination.</a:t>
            </a:r>
          </a:p>
          <a:p>
            <a:endParaRPr lang="en-US" sz="2500" dirty="0">
              <a:latin typeface="Arial Narrow" panose="020B0606020202030204" pitchFamily="34" charset="0"/>
            </a:endParaRPr>
          </a:p>
          <a:p>
            <a:r>
              <a:rPr lang="en-US" sz="2500" b="1" dirty="0">
                <a:latin typeface="Arial Narrow" panose="020B0606020202030204" pitchFamily="34" charset="0"/>
              </a:rPr>
              <a:t>Model Selection:</a:t>
            </a:r>
            <a:endParaRPr lang="en-US" sz="25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>
                <a:latin typeface="Arial Narrow" panose="020B0606020202030204" pitchFamily="34" charset="0"/>
              </a:rPr>
              <a:t>Speech-to-Text:</a:t>
            </a:r>
            <a:r>
              <a:rPr lang="en-US" sz="2500" dirty="0">
                <a:latin typeface="Arial Narrow" panose="020B0606020202030204" pitchFamily="34" charset="0"/>
              </a:rPr>
              <a:t> Whisper model by OpenAI, known for high transcription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>
                <a:latin typeface="Arial Narrow" panose="020B0606020202030204" pitchFamily="34" charset="0"/>
              </a:rPr>
              <a:t>Sentiment Analysis:</a:t>
            </a:r>
            <a:r>
              <a:rPr lang="en-US" sz="2500" dirty="0">
                <a:latin typeface="Arial Narrow" panose="020B0606020202030204" pitchFamily="34" charset="0"/>
              </a:rPr>
              <a:t> </a:t>
            </a:r>
            <a:r>
              <a:rPr lang="en-US" sz="2500" dirty="0" err="1">
                <a:latin typeface="Arial Narrow" panose="020B0606020202030204" pitchFamily="34" charset="0"/>
              </a:rPr>
              <a:t>DistilBERT</a:t>
            </a:r>
            <a:r>
              <a:rPr lang="en-US" sz="2500" dirty="0">
                <a:latin typeface="Arial Narrow" panose="020B0606020202030204" pitchFamily="34" charset="0"/>
              </a:rPr>
              <a:t> fine-tuned on SST-2 for sentiment classification.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>
                <a:latin typeface="Arial Narrow" panose="020B0606020202030204" pitchFamily="34" charset="0"/>
              </a:rPr>
              <a:t>Text Summarization:</a:t>
            </a:r>
            <a:r>
              <a:rPr lang="en-US" sz="2500" dirty="0">
                <a:latin typeface="Arial Narrow" panose="020B0606020202030204" pitchFamily="34" charset="0"/>
              </a:rPr>
              <a:t> T5 model used for generating concise summaries</a:t>
            </a:r>
          </a:p>
          <a:p>
            <a:r>
              <a:rPr lang="en-US" sz="2500" dirty="0">
                <a:latin typeface="Arial Narrow" panose="020B0606020202030204" pitchFamily="34" charset="0"/>
              </a:rPr>
              <a:t>.</a:t>
            </a:r>
          </a:p>
          <a:p>
            <a:r>
              <a:rPr lang="en-US" sz="2500" b="1" dirty="0">
                <a:latin typeface="Arial Narrow" panose="020B0606020202030204" pitchFamily="34" charset="0"/>
              </a:rPr>
              <a:t>System Architecture:</a:t>
            </a:r>
            <a:endParaRPr lang="en-US" sz="2500" dirty="0">
              <a:latin typeface="Arial Narrow" panose="020B0606020202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2500" b="1" dirty="0">
                <a:latin typeface="Arial Narrow" panose="020B0606020202030204" pitchFamily="34" charset="0"/>
              </a:rPr>
              <a:t>Audio Input. </a:t>
            </a:r>
            <a:endParaRPr lang="en-US" sz="2500" dirty="0">
              <a:latin typeface="Arial Narrow" panose="020B0606020202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2500" b="1" dirty="0">
                <a:latin typeface="Arial Narrow" panose="020B0606020202030204" pitchFamily="34" charset="0"/>
              </a:rPr>
              <a:t>Preprocessing. Speech-to-Text.</a:t>
            </a:r>
            <a:r>
              <a:rPr lang="en-US" sz="2500" dirty="0">
                <a:latin typeface="Arial Narrow" panose="020B060602020203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500" b="1" dirty="0">
                <a:latin typeface="Arial Narrow" panose="020B0606020202030204" pitchFamily="34" charset="0"/>
              </a:rPr>
              <a:t>Sentiment Analysis. Text Summarization. </a:t>
            </a:r>
          </a:p>
          <a:p>
            <a:endParaRPr lang="en-US" sz="2500" b="1" dirty="0">
              <a:latin typeface="Arial Narrow" panose="020B0606020202030204" pitchFamily="34" charset="0"/>
            </a:endParaRPr>
          </a:p>
          <a:p>
            <a:r>
              <a:rPr lang="en-US" sz="2500" b="1" dirty="0">
                <a:latin typeface="Arial Narrow" panose="020B0606020202030204" pitchFamily="34" charset="0"/>
              </a:rPr>
              <a:t>Deployment:</a:t>
            </a:r>
            <a:endParaRPr lang="en-US" sz="2500" dirty="0">
              <a:latin typeface="Arial Narrow" panose="020B0606020202030204" pitchFamily="34" charset="0"/>
            </a:endParaRPr>
          </a:p>
          <a:p>
            <a:r>
              <a:rPr lang="en-US" sz="2500" dirty="0">
                <a:latin typeface="Arial Narrow" panose="020B0606020202030204" pitchFamily="34" charset="0"/>
              </a:rPr>
              <a:t>A web interface was built using </a:t>
            </a:r>
            <a:r>
              <a:rPr lang="en-US" sz="2500" dirty="0" err="1">
                <a:latin typeface="Arial Narrow" panose="020B0606020202030204" pitchFamily="34" charset="0"/>
              </a:rPr>
              <a:t>Streamlit</a:t>
            </a:r>
            <a:r>
              <a:rPr lang="en-US" sz="2500" dirty="0">
                <a:latin typeface="Arial Narrow" panose="020B0606020202030204" pitchFamily="34" charset="0"/>
              </a:rPr>
              <a:t> for real-time interaction.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EEA267-2391-3A49-934A-A4130F566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3909" y="8362935"/>
            <a:ext cx="11148517" cy="506428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8AEB626-5F49-C75F-688D-2DC458A12383}"/>
              </a:ext>
            </a:extLst>
          </p:cNvPr>
          <p:cNvSpPr txBox="1"/>
          <p:nvPr/>
        </p:nvSpPr>
        <p:spPr>
          <a:xfrm>
            <a:off x="14827282" y="17008501"/>
            <a:ext cx="1084356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➡ Interpretation:</a:t>
            </a:r>
            <a:br>
              <a:rPr lang="en-US" sz="2500" dirty="0"/>
            </a:br>
            <a:r>
              <a:rPr lang="en-US" sz="2500" dirty="0"/>
              <a:t>The model performs well but can be improved by fine-tuning on Swahili-specific data.</a:t>
            </a:r>
            <a:br>
              <a:rPr lang="en-US" sz="2500" dirty="0"/>
            </a:br>
            <a:endParaRPr lang="en-US" sz="2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09E2D7-49E5-4093-9BED-CF9BBE529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9688" y="13932808"/>
            <a:ext cx="7423902" cy="23225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A01BCD-7F0D-4BAC-B0F4-F06AD8297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6390" y="4145148"/>
            <a:ext cx="4346543" cy="29553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6B38F1E-A11B-4D7A-997C-37EAE96A705C}"/>
              </a:ext>
            </a:extLst>
          </p:cNvPr>
          <p:cNvSpPr/>
          <p:nvPr/>
        </p:nvSpPr>
        <p:spPr>
          <a:xfrm>
            <a:off x="14391649" y="7216067"/>
            <a:ext cx="52680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srgbClr val="666666"/>
                </a:solidFill>
              </a:rPr>
              <a:t>Fig1:Demographic Dynamics of the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797111-4ECF-4040-AA0A-B2D089CF813A}"/>
              </a:ext>
            </a:extLst>
          </p:cNvPr>
          <p:cNvSpPr/>
          <p:nvPr/>
        </p:nvSpPr>
        <p:spPr>
          <a:xfrm>
            <a:off x="21340136" y="7235289"/>
            <a:ext cx="30796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srgbClr val="666666"/>
                </a:solidFill>
              </a:rPr>
              <a:t>Fig2:Feature Engineering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3FE54E-3110-4483-801A-5F17BADE3CB0}"/>
              </a:ext>
            </a:extLst>
          </p:cNvPr>
          <p:cNvSpPr/>
          <p:nvPr/>
        </p:nvSpPr>
        <p:spPr>
          <a:xfrm>
            <a:off x="14945356" y="13427217"/>
            <a:ext cx="90361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srgbClr val="666666"/>
                </a:solidFill>
              </a:rPr>
              <a:t>Fig3:Model Evaluation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11CBAB-F3C7-4D08-88E9-2831366A9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1373" y="4446421"/>
            <a:ext cx="5749972" cy="281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FF6AA0-24AF-4FAC-9241-C07CC03CA9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1755" y="16594599"/>
            <a:ext cx="4761081" cy="24590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E38149-C97D-4438-A9E1-A31B8BADDA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27750" y="-10756"/>
            <a:ext cx="4535662" cy="351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12706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 Accessible" id="{BC02AB42-924F-614D-9F02-5DAD031142A4}" vid="{CEC2668D-C73A-D648-809C-2002B42E64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</TotalTime>
  <Words>499</Words>
  <Application>Microsoft Office PowerPoint</Application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Arial Narrow</vt:lpstr>
      <vt:lpstr>Calibri</vt:lpstr>
      <vt:lpstr>System Font Regular</vt:lpstr>
      <vt:lpstr>Research Poster Template</vt:lpstr>
      <vt:lpstr>PowerPoint Presentation</vt:lpstr>
    </vt:vector>
  </TitlesOfParts>
  <Manager/>
  <Company/>
  <LinksUpToDate>false</LinksUpToDate>
  <SharedDoc>false</SharedDoc>
  <HyperlinkBase>www.buffalo.edu/brand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Kevin Obote</cp:lastModifiedBy>
  <cp:revision>38</cp:revision>
  <cp:lastPrinted>2018-07-27T15:05:13Z</cp:lastPrinted>
  <dcterms:created xsi:type="dcterms:W3CDTF">2019-03-28T18:35:19Z</dcterms:created>
  <dcterms:modified xsi:type="dcterms:W3CDTF">2025-02-02T10:34:51Z</dcterms:modified>
  <cp:category/>
</cp:coreProperties>
</file>